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688" r:id="rId1"/>
  </p:sldMasterIdLst>
  <p:notesMasterIdLst>
    <p:notesMasterId r:id="rId14"/>
  </p:notesMasterIdLst>
  <p:handoutMasterIdLst>
    <p:handoutMasterId r:id="rId15"/>
  </p:handoutMasterIdLst>
  <p:sldIdLst>
    <p:sldId id="326" r:id="rId2"/>
    <p:sldId id="376" r:id="rId3"/>
    <p:sldId id="377" r:id="rId4"/>
    <p:sldId id="390" r:id="rId5"/>
    <p:sldId id="432" r:id="rId6"/>
    <p:sldId id="431" r:id="rId7"/>
    <p:sldId id="426" r:id="rId8"/>
    <p:sldId id="378" r:id="rId9"/>
    <p:sldId id="430" r:id="rId10"/>
    <p:sldId id="428" r:id="rId11"/>
    <p:sldId id="407" r:id="rId12"/>
    <p:sldId id="429" r:id="rId13"/>
  </p:sldIdLst>
  <p:sldSz cx="9144000" cy="6858000" type="screen4x3"/>
  <p:notesSz cx="7010400" cy="9296400"/>
  <p:embeddedFontLst>
    <p:embeddedFont>
      <p:font typeface="Arial Unicode MS" panose="020B0604020202020204" pitchFamily="34" charset="-128"/>
      <p:regular r:id="rId16"/>
    </p:embeddedFont>
    <p:embeddedFont>
      <p:font typeface="Book Antiqua" panose="02040602050305030304" pitchFamily="18" charset="0"/>
      <p:regular r:id="rId17"/>
      <p:bold r:id="rId18"/>
      <p:italic r:id="rId19"/>
      <p:boldItalic r:id="rId20"/>
    </p:embeddedFont>
    <p:embeddedFont>
      <p:font typeface="MS Reference Serif" panose="02040502050405020303" pitchFamily="18" charset="0"/>
      <p:regular r:id="rId21"/>
      <p:bold r:id="rId22"/>
      <p:italic r:id="rId23"/>
      <p:boldItalic r:id="rId24"/>
    </p:embeddedFont>
  </p:embeddedFont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4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000052"/>
    <a:srgbClr val="9EA3C4"/>
    <a:srgbClr val="A1A9C1"/>
    <a:srgbClr val="9099B6"/>
    <a:srgbClr val="7A85A8"/>
    <a:srgbClr val="5A5A86"/>
    <a:srgbClr val="DF8F0D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52" autoAdjust="0"/>
    <p:restoredTop sz="93792" autoAdjust="0"/>
  </p:normalViewPr>
  <p:slideViewPr>
    <p:cSldViewPr snapToGrid="0">
      <p:cViewPr varScale="1">
        <p:scale>
          <a:sx n="122" d="100"/>
          <a:sy n="122" d="100"/>
        </p:scale>
        <p:origin x="1960" y="192"/>
      </p:cViewPr>
      <p:guideLst>
        <p:guide orient="horz" pos="3964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-2814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523567" y="8896139"/>
            <a:ext cx="415431" cy="3066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2207" tIns="45295" rIns="92207" bIns="45295" anchor="ctr">
            <a:spAutoFit/>
          </a:bodyPr>
          <a:lstStyle/>
          <a:p>
            <a:pPr algn="r"/>
            <a:fld id="{59848329-6731-424C-9649-51A4D3400ED7}" type="slidenum">
              <a:rPr lang="en-US" sz="1400">
                <a:effectLst/>
                <a:latin typeface="Book Antiqua" pitchFamily="18" charset="0"/>
              </a:rPr>
              <a:pPr algn="r"/>
              <a:t>‹#›</a:t>
            </a:fld>
            <a:endParaRPr lang="en-US" sz="1400">
              <a:effectLst/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461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207" tIns="45295" rIns="92207" bIns="45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9038" y="703263"/>
            <a:ext cx="4632325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523567" y="8896139"/>
            <a:ext cx="415431" cy="3066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2207" tIns="45295" rIns="92207" bIns="45295" anchor="ctr">
            <a:spAutoFit/>
          </a:bodyPr>
          <a:lstStyle/>
          <a:p>
            <a:pPr algn="r"/>
            <a:fld id="{F178CB77-DDBC-467A-8033-2C50E1AFDC46}" type="slidenum">
              <a:rPr lang="en-US" sz="1400">
                <a:effectLst/>
                <a:latin typeface="Book Antiqua" pitchFamily="18" charset="0"/>
              </a:rPr>
              <a:pPr algn="r"/>
              <a:t>‹#›</a:t>
            </a:fld>
            <a:endParaRPr lang="en-US" sz="1400">
              <a:effectLst/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3546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9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3793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36377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59157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2545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41828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50136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2325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4571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880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703263"/>
            <a:ext cx="4632325" cy="3473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573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094331"/>
            <a:ext cx="7772400" cy="14700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13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786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033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006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8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529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97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79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ook Antiqua" panose="02040602050305030304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ook Antiqua" panose="02040602050305030304" pitchFamily="18" charset="0"/>
              </a:defRPr>
            </a:lvl1pPr>
            <a:lvl2pPr>
              <a:defRPr sz="2800">
                <a:latin typeface="Book Antiqua" panose="02040602050305030304" pitchFamily="18" charset="0"/>
              </a:defRPr>
            </a:lvl2pPr>
            <a:lvl3pPr>
              <a:defRPr sz="2400">
                <a:latin typeface="Book Antiqua" panose="02040602050305030304" pitchFamily="18" charset="0"/>
              </a:defRPr>
            </a:lvl3pPr>
            <a:lvl4pPr>
              <a:defRPr sz="2000">
                <a:latin typeface="Book Antiqua" panose="02040602050305030304" pitchFamily="18" charset="0"/>
              </a:defRPr>
            </a:lvl4pPr>
            <a:lvl5pPr>
              <a:defRPr sz="2000">
                <a:latin typeface="Book Antiqua" panose="0204060205030503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ook Antiqua" panose="0204060205030503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91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09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10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264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965200"/>
            <a:ext cx="8229600" cy="516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2ACF0-B9EB-4A42-841D-6B1E904CEDEA}" type="datetimeFigureOut">
              <a:rPr lang="ko-KR" altLang="en-US" smtClean="0"/>
              <a:t>2026. 3. 4.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33B1-9A7C-46E6-967E-605EA2807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17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>
    <p:zoom/>
  </p:transition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Arial Unicode MS" panose="020B0604020202020204" pitchFamily="50" charset="-127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Arial Unicode MS" panose="020B0604020202020204" pitchFamily="50" charset="-127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Arial Unicode MS" panose="020B0604020202020204" pitchFamily="50" charset="-127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Arial Unicode MS" panose="020B0604020202020204" pitchFamily="50" charset="-127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Arial Unicode MS" panose="020B0604020202020204" pitchFamily="50" charset="-127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Arial Unicode MS" panose="020B0604020202020204" pitchFamily="50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69F066-2DCD-79E5-3EF9-0AA3ED25016D}"/>
              </a:ext>
            </a:extLst>
          </p:cNvPr>
          <p:cNvSpPr txBox="1"/>
          <p:nvPr/>
        </p:nvSpPr>
        <p:spPr>
          <a:xfrm>
            <a:off x="1093076" y="2659559"/>
            <a:ext cx="6957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Modelling Passengers’ Airport and Airline Choice Behavior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5031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Airport &amp; Airline Choice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20262" y="1471447"/>
            <a:ext cx="8365958" cy="521368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Problem Description</a:t>
            </a:r>
          </a:p>
          <a:p>
            <a:pPr lvl="1"/>
            <a:r>
              <a:rPr lang="en-US" altLang="ko-KR" sz="2000" dirty="0"/>
              <a:t>Two international airports in Seoul Metropolitan Area</a:t>
            </a:r>
          </a:p>
          <a:p>
            <a:pPr lvl="2"/>
            <a:r>
              <a:rPr lang="en-US" altLang="ko-KR" sz="1600" dirty="0" err="1"/>
              <a:t>Gimpo</a:t>
            </a:r>
            <a:r>
              <a:rPr lang="en-US" altLang="ko-KR" sz="1600" dirty="0"/>
              <a:t> airport: Smaller and old, but closer to the city </a:t>
            </a:r>
          </a:p>
          <a:p>
            <a:pPr lvl="2"/>
            <a:r>
              <a:rPr lang="en-US" altLang="ko-KR" sz="1600" dirty="0"/>
              <a:t>Incheon airport: Larger and new hub airport, but farther from the city </a:t>
            </a:r>
          </a:p>
          <a:p>
            <a:pPr lvl="1"/>
            <a:r>
              <a:rPr lang="en-US" altLang="ko-KR" sz="2000" dirty="0"/>
              <a:t>What drives passengers’ choice of airport and airline?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1026" name="Picture 2" descr="https://trazy.s3.amazonaws.com/images/tour/pictures/airport-map-private-va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5" r="40180"/>
          <a:stretch/>
        </p:blipFill>
        <p:spPr bwMode="auto">
          <a:xfrm>
            <a:off x="2252393" y="3397303"/>
            <a:ext cx="4558315" cy="349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062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Airport &amp; Airline Choice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20262" y="1471447"/>
            <a:ext cx="8365958" cy="5213684"/>
          </a:xfrm>
        </p:spPr>
        <p:txBody>
          <a:bodyPr>
            <a:normAutofit/>
          </a:bodyPr>
          <a:lstStyle/>
          <a:p>
            <a:r>
              <a:rPr lang="en-US" altLang="ko-KR" dirty="0"/>
              <a:t>Project Objective</a:t>
            </a:r>
          </a:p>
          <a:p>
            <a:pPr lvl="1"/>
            <a:r>
              <a:rPr lang="en-US" altLang="ko-KR" dirty="0"/>
              <a:t>Investigate passengers’ choice behavior</a:t>
            </a:r>
          </a:p>
          <a:p>
            <a:pPr lvl="2"/>
            <a:r>
              <a:rPr lang="en-US" altLang="ko-KR" sz="1800" dirty="0"/>
              <a:t>Airport choice</a:t>
            </a:r>
          </a:p>
          <a:p>
            <a:pPr lvl="2"/>
            <a:r>
              <a:rPr lang="en-US" altLang="ko-KR" sz="1800" dirty="0"/>
              <a:t>Airline choice </a:t>
            </a:r>
          </a:p>
          <a:p>
            <a:pPr lvl="1"/>
            <a:r>
              <a:rPr lang="en-US" altLang="ko-KR" dirty="0"/>
              <a:t>Apply several different approaches to modeling air travel behavior</a:t>
            </a:r>
          </a:p>
          <a:p>
            <a:pPr lvl="2"/>
            <a:r>
              <a:rPr lang="en-US" altLang="ko-KR" sz="1800" dirty="0"/>
              <a:t>Discrete Choice Models</a:t>
            </a:r>
          </a:p>
          <a:p>
            <a:pPr lvl="2"/>
            <a:r>
              <a:rPr lang="en-US" altLang="ko-KR" sz="1800" dirty="0"/>
              <a:t>Data Mining Models</a:t>
            </a:r>
          </a:p>
          <a:p>
            <a:pPr lvl="1"/>
            <a:r>
              <a:rPr lang="en-US" altLang="ko-KR" dirty="0"/>
              <a:t>Discuss substantive policy implications based on the quantitative analysis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00206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20262" y="1471447"/>
            <a:ext cx="8365958" cy="5213684"/>
          </a:xfrm>
        </p:spPr>
        <p:txBody>
          <a:bodyPr>
            <a:normAutofit/>
          </a:bodyPr>
          <a:lstStyle/>
          <a:p>
            <a:r>
              <a:rPr lang="en-US" altLang="ko-KR" dirty="0"/>
              <a:t>Survey data of 488 respondents</a:t>
            </a:r>
            <a:endParaRPr lang="en-US" altLang="ko-KR" sz="2400" dirty="0"/>
          </a:p>
          <a:p>
            <a:r>
              <a:rPr lang="en-US" altLang="ko-KR" dirty="0"/>
              <a:t>27 variables (originally 38 variables)</a:t>
            </a:r>
          </a:p>
          <a:p>
            <a:pPr lvl="1"/>
            <a:r>
              <a:rPr lang="en-US" altLang="ko-KR" dirty="0"/>
              <a:t>Airport choice</a:t>
            </a:r>
          </a:p>
          <a:p>
            <a:pPr lvl="2"/>
            <a:r>
              <a:rPr lang="en-US" altLang="ko-KR" sz="1800" dirty="0"/>
              <a:t>GMP, ICN</a:t>
            </a:r>
          </a:p>
          <a:p>
            <a:pPr lvl="1"/>
            <a:r>
              <a:rPr lang="en-US" altLang="ko-KR" dirty="0"/>
              <a:t>Airline</a:t>
            </a:r>
          </a:p>
          <a:p>
            <a:pPr lvl="2"/>
            <a:r>
              <a:rPr lang="en-US" altLang="ko-KR" sz="1800" dirty="0"/>
              <a:t>Korean Air (KE), Asiana Air (OZ), Korean LCC, Foreign Carriers</a:t>
            </a:r>
          </a:p>
          <a:p>
            <a:pPr lvl="1"/>
            <a:r>
              <a:rPr lang="en-US" altLang="ko-KR" dirty="0"/>
              <a:t>Socio-demographic: age, gender, occupation, income,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lvl="1"/>
            <a:r>
              <a:rPr lang="en-US" altLang="ko-KR" dirty="0"/>
              <a:t>Alternative-Specific : flight information, travel time, mode of transport, </a:t>
            </a:r>
            <a:r>
              <a:rPr lang="en-US" altLang="ko-KR" dirty="0" err="1"/>
              <a:t>etc</a:t>
            </a:r>
            <a:endParaRPr lang="en-US" altLang="ko-KR" sz="2800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9570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20262" y="1471447"/>
            <a:ext cx="8365958" cy="5213684"/>
          </a:xfrm>
        </p:spPr>
        <p:txBody>
          <a:bodyPr>
            <a:normAutofit/>
          </a:bodyPr>
          <a:lstStyle/>
          <a:p>
            <a:r>
              <a:rPr lang="en-US" altLang="ko-KR" dirty="0"/>
              <a:t>Dependent Variable</a:t>
            </a:r>
          </a:p>
          <a:p>
            <a:pPr lvl="1"/>
            <a:r>
              <a:rPr lang="en-US" altLang="ko-KR" dirty="0"/>
              <a:t>Airport choice : Binary (ICN or GMP)</a:t>
            </a:r>
          </a:p>
          <a:p>
            <a:pPr lvl="1"/>
            <a:r>
              <a:rPr lang="en-US" altLang="ko-KR" dirty="0"/>
              <a:t>Airline choice : Multinomial </a:t>
            </a:r>
          </a:p>
          <a:p>
            <a:pPr lvl="2"/>
            <a:r>
              <a:rPr lang="en-US" altLang="ko-KR" sz="1800" dirty="0"/>
              <a:t>KE : Korean Air, full-service (legacy) carrier based in Korea, majority of market share </a:t>
            </a:r>
          </a:p>
          <a:p>
            <a:pPr lvl="2"/>
            <a:r>
              <a:rPr lang="en-US" altLang="ko-KR" sz="1800" dirty="0"/>
              <a:t>OZ: Asiana Airline, full-service carrier (legacy) based in Korea</a:t>
            </a:r>
          </a:p>
          <a:p>
            <a:pPr lvl="2"/>
            <a:r>
              <a:rPr lang="en-US" altLang="ko-KR" sz="1800" dirty="0"/>
              <a:t>Korean LCC : Low-cost carriers based in Korea</a:t>
            </a:r>
          </a:p>
          <a:p>
            <a:pPr lvl="2"/>
            <a:r>
              <a:rPr lang="en-US" altLang="ko-KR" sz="1800" dirty="0"/>
              <a:t>Foreign Carriers: Primarily based in China, Japan and Southeast Asia  </a:t>
            </a:r>
          </a:p>
          <a:p>
            <a:pPr lvl="1"/>
            <a:r>
              <a:rPr lang="en-US" altLang="ko-KR" dirty="0"/>
              <a:t>Airline choice may be reduced to binary choice (recommended).</a:t>
            </a:r>
          </a:p>
          <a:p>
            <a:pPr lvl="2"/>
            <a:r>
              <a:rPr lang="en-US" altLang="ko-KR" sz="1800" dirty="0"/>
              <a:t>E.g. Korean Carriers vs Foreign</a:t>
            </a:r>
          </a:p>
          <a:p>
            <a:pPr lvl="2"/>
            <a:r>
              <a:rPr lang="en-US" altLang="ko-KR" sz="1800" dirty="0"/>
              <a:t>E.g. Korean full-service carriers (KE, OZ) vs. Others</a:t>
            </a:r>
          </a:p>
        </p:txBody>
      </p:sp>
    </p:spTree>
    <p:extLst>
      <p:ext uri="{BB962C8B-B14F-4D97-AF65-F5344CB8AC3E}">
        <p14:creationId xmlns:p14="http://schemas.microsoft.com/office/powerpoint/2010/main" val="529579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20262" y="1471447"/>
            <a:ext cx="8365958" cy="5213684"/>
          </a:xfrm>
        </p:spPr>
        <p:txBody>
          <a:bodyPr>
            <a:normAutofit/>
          </a:bodyPr>
          <a:lstStyle/>
          <a:p>
            <a:r>
              <a:rPr lang="en-US" altLang="ko-KR" dirty="0"/>
              <a:t>Independent Variables</a:t>
            </a:r>
          </a:p>
          <a:p>
            <a:pPr lvl="1"/>
            <a:r>
              <a:rPr lang="en-US" altLang="ko-KR" dirty="0"/>
              <a:t>Passenger specific: age, gender, occupation, income,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lvl="1"/>
            <a:r>
              <a:rPr lang="en-US" altLang="ko-KR" dirty="0"/>
              <a:t>Alternative specific </a:t>
            </a:r>
          </a:p>
          <a:p>
            <a:pPr lvl="2"/>
            <a:r>
              <a:rPr lang="en-US" altLang="ko-KR" sz="1800" dirty="0"/>
              <a:t>Flight specific: </a:t>
            </a:r>
            <a:r>
              <a:rPr lang="en-US" altLang="ko-KR" sz="1800" b="1" dirty="0"/>
              <a:t>Destination (China, Japan, Southeast Asia, other)</a:t>
            </a:r>
            <a:r>
              <a:rPr lang="en-US" altLang="ko-KR" sz="1800" dirty="0"/>
              <a:t>, travel time and </a:t>
            </a:r>
            <a:r>
              <a:rPr lang="en-US" altLang="ko-KR" sz="1800" dirty="0" err="1"/>
              <a:t>etc</a:t>
            </a:r>
            <a:endParaRPr lang="en-US" altLang="ko-KR" sz="1800" dirty="0"/>
          </a:p>
          <a:p>
            <a:pPr lvl="2"/>
            <a:r>
              <a:rPr lang="en-US" altLang="ko-KR" sz="1800" dirty="0"/>
              <a:t>Mode specific : Mode of transport and </a:t>
            </a:r>
            <a:r>
              <a:rPr lang="en-US" altLang="ko-KR" sz="1800" dirty="0" err="1"/>
              <a:t>etc</a:t>
            </a:r>
            <a:endParaRPr lang="en-US" altLang="ko-KR" sz="2400" dirty="0"/>
          </a:p>
          <a:p>
            <a:pPr lvl="1"/>
            <a:r>
              <a:rPr lang="en-US" altLang="ko-KR" dirty="0"/>
              <a:t>Passenger-alternative specific: Airfare, seat class, group travel, access time, access cost 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We have many categorical variables with many (&gt;3) categories.</a:t>
            </a:r>
          </a:p>
          <a:p>
            <a:pPr lvl="2"/>
            <a:r>
              <a:rPr lang="en-US" altLang="ko-KR" dirty="0"/>
              <a:t>You may need to further categorize. How?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3664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Objective</a:t>
            </a:r>
          </a:p>
        </p:txBody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1"/>
            <a:ext cx="8489092" cy="528869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Develop models to describe passengers’ airline and airport choice behavior.</a:t>
            </a:r>
          </a:p>
          <a:p>
            <a:pPr lvl="1"/>
            <a:r>
              <a:rPr lang="en-US" altLang="en-US" dirty="0"/>
              <a:t>Model implementation</a:t>
            </a:r>
          </a:p>
          <a:p>
            <a:pPr lvl="1"/>
            <a:r>
              <a:rPr lang="en-US" altLang="en-US" dirty="0"/>
              <a:t>Model evaluation</a:t>
            </a:r>
          </a:p>
          <a:p>
            <a:r>
              <a:rPr lang="en-US" altLang="en-US" dirty="0"/>
              <a:t>Describe passengers’ behavior based on the modeling results.</a:t>
            </a:r>
          </a:p>
          <a:p>
            <a:pPr lvl="1"/>
            <a:r>
              <a:rPr lang="en-US" altLang="en-US" b="1" dirty="0"/>
              <a:t>The Purpose of the project is description!</a:t>
            </a:r>
          </a:p>
          <a:p>
            <a:pPr lvl="1"/>
            <a:r>
              <a:rPr lang="en-US" altLang="en-US" dirty="0"/>
              <a:t>Descriptive models (logistic regression, decision tree) should be developed.</a:t>
            </a:r>
          </a:p>
          <a:p>
            <a:pPr lvl="1"/>
            <a:r>
              <a:rPr lang="en-US" altLang="en-US" dirty="0"/>
              <a:t>Other non-descriptive models (e.g. NN, SVM) can be developed for further model evaluation.</a:t>
            </a:r>
          </a:p>
          <a:p>
            <a:r>
              <a:rPr lang="en-US" altLang="en-US" dirty="0"/>
              <a:t>Discuss substantive policy implications based on the quantitative analysis.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5453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Modeling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20262" y="1471447"/>
            <a:ext cx="8365958" cy="521368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Description Methods </a:t>
            </a:r>
          </a:p>
          <a:p>
            <a:pPr lvl="1"/>
            <a:r>
              <a:rPr lang="en-US" altLang="ko-KR" sz="2000" dirty="0"/>
              <a:t>Find human-interpretable patterns that describe the data</a:t>
            </a:r>
          </a:p>
          <a:p>
            <a:pPr lvl="1"/>
            <a:r>
              <a:rPr lang="en-US" altLang="ko-KR" sz="2000" dirty="0"/>
              <a:t>Vs. prediction methods</a:t>
            </a:r>
          </a:p>
          <a:p>
            <a:pPr lvl="2"/>
            <a:r>
              <a:rPr lang="en-US" altLang="ko-KR" sz="2400" b="1" dirty="0"/>
              <a:t>Purpose of this study is description.</a:t>
            </a:r>
          </a:p>
          <a:p>
            <a:endParaRPr lang="en-US" altLang="ko-KR" sz="2400" dirty="0"/>
          </a:p>
          <a:p>
            <a:r>
              <a:rPr lang="en-US" altLang="ko-KR" sz="2400" dirty="0"/>
              <a:t>Classification Problem</a:t>
            </a:r>
          </a:p>
          <a:p>
            <a:pPr lvl="1"/>
            <a:r>
              <a:rPr lang="en-US" altLang="ko-KR" sz="2000" dirty="0"/>
              <a:t>Dependent (y) variable is categorical.</a:t>
            </a:r>
          </a:p>
          <a:p>
            <a:pPr lvl="2"/>
            <a:r>
              <a:rPr lang="en-US" altLang="ko-KR" sz="1600" dirty="0"/>
              <a:t>Airport choice</a:t>
            </a:r>
          </a:p>
          <a:p>
            <a:pPr lvl="2"/>
            <a:r>
              <a:rPr lang="en-US" altLang="ko-KR" sz="1600" dirty="0"/>
              <a:t>Airline choice</a:t>
            </a:r>
          </a:p>
          <a:p>
            <a:pPr lvl="1"/>
            <a:r>
              <a:rPr lang="en-US" altLang="ko-KR" sz="2000" dirty="0"/>
              <a:t>Vs. regression problem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3480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If you are interested in..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20262" y="1471447"/>
            <a:ext cx="8365958" cy="521368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Consumer behavior</a:t>
            </a:r>
          </a:p>
          <a:p>
            <a:r>
              <a:rPr lang="en-US" altLang="ko-KR" sz="2400" dirty="0"/>
              <a:t>Marketing</a:t>
            </a:r>
          </a:p>
          <a:p>
            <a:r>
              <a:rPr lang="en-US" altLang="ko-KR" sz="2400" dirty="0"/>
              <a:t>Public policy</a:t>
            </a:r>
          </a:p>
          <a:p>
            <a:r>
              <a:rPr lang="en-US" altLang="ko-KR" sz="2400" dirty="0"/>
              <a:t>Econometrics</a:t>
            </a:r>
          </a:p>
          <a:p>
            <a:r>
              <a:rPr lang="en-US" altLang="ko-KR" sz="2400" dirty="0"/>
              <a:t>Classification models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26778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Instruction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25349" y="1136821"/>
            <a:ext cx="8489092" cy="5374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en-US" dirty="0">
                <a:effectLst/>
              </a:rPr>
              <a:t>One-on-one meeting </a:t>
            </a:r>
            <a:r>
              <a:rPr lang="en-US" altLang="en-US">
                <a:effectLst/>
              </a:rPr>
              <a:t>after Exam 2.</a:t>
            </a:r>
            <a:endParaRPr lang="en-US" altLang="en-US" dirty="0">
              <a:effectLst/>
            </a:endParaRPr>
          </a:p>
          <a:p>
            <a:pPr fontAlgn="auto">
              <a:spcAft>
                <a:spcPts val="0"/>
              </a:spcAft>
            </a:pPr>
            <a:endParaRPr lang="en-US" altLang="en-US" dirty="0">
              <a:effectLst/>
            </a:endParaRPr>
          </a:p>
          <a:p>
            <a:r>
              <a:rPr lang="en-US" dirty="0">
                <a:effectLst/>
              </a:rPr>
              <a:t>Submit</a:t>
            </a:r>
          </a:p>
          <a:p>
            <a:pPr lvl="1"/>
            <a:r>
              <a:rPr lang="en-US" dirty="0">
                <a:effectLst/>
              </a:rPr>
              <a:t>A paper</a:t>
            </a:r>
          </a:p>
          <a:p>
            <a:pPr lvl="2"/>
            <a:r>
              <a:rPr lang="en-US" dirty="0">
                <a:effectLst/>
              </a:rPr>
              <a:t>Final paper should be no more than 20 pages including figures, graphs, and tables. No appendix, please.</a:t>
            </a:r>
          </a:p>
          <a:p>
            <a:pPr lvl="2"/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All of your codes to show your work</a:t>
            </a:r>
          </a:p>
          <a:p>
            <a:pPr lvl="1"/>
            <a:endParaRPr lang="en-US" altLang="en-US" dirty="0">
              <a:effectLst/>
            </a:endParaRPr>
          </a:p>
          <a:p>
            <a:pPr fontAlgn="auto">
              <a:spcAft>
                <a:spcPts val="0"/>
              </a:spcAft>
            </a:pPr>
            <a:endParaRPr lang="en-US" altLang="en-US" dirty="0">
              <a:effectLst/>
            </a:endParaRPr>
          </a:p>
          <a:p>
            <a:pPr fontAlgn="auto">
              <a:spcAft>
                <a:spcPts val="0"/>
              </a:spcAft>
            </a:pPr>
            <a:endParaRPr lang="en-US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9257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Non Disclosure Agreement</a:t>
            </a:r>
          </a:p>
        </p:txBody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Data, codes, papers, reports, and lecture materials, including assignments, lecture notes, and others, should not be shared by anybody or any other organization.  </a:t>
            </a:r>
          </a:p>
          <a:p>
            <a:r>
              <a:rPr lang="en-US" altLang="en-US" dirty="0"/>
              <a:t>Students or anybody need to obtain an explicit permission from the faculty member for any use outside of class, including posting them on GitHub or anywhere else.</a:t>
            </a:r>
          </a:p>
        </p:txBody>
      </p:sp>
    </p:spTree>
    <p:extLst>
      <p:ext uri="{BB962C8B-B14F-4D97-AF65-F5344CB8AC3E}">
        <p14:creationId xmlns:p14="http://schemas.microsoft.com/office/powerpoint/2010/main" val="3326664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References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20262" y="1471447"/>
            <a:ext cx="8365958" cy="5213684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A Self Instructing Course in Mode Choice Modeling: Multinomial and Nested Logit Models by Frank S. </a:t>
            </a:r>
            <a:r>
              <a:rPr lang="en-US" altLang="ko-KR" sz="2000" dirty="0" err="1"/>
              <a:t>Koppelman</a:t>
            </a:r>
            <a:r>
              <a:rPr lang="en-US" altLang="ko-KR" sz="2000" dirty="0"/>
              <a:t> and Chandra Bhat </a:t>
            </a:r>
          </a:p>
          <a:p>
            <a:endParaRPr lang="en-US" altLang="ko-KR" sz="2000" dirty="0"/>
          </a:p>
          <a:p>
            <a:r>
              <a:rPr lang="en-US" altLang="ko-KR" sz="2000" dirty="0"/>
              <a:t>Airport Choice Modeling: Empirical Evidence from a Non‐Hub Airport. By S. Leon</a:t>
            </a:r>
          </a:p>
          <a:p>
            <a:r>
              <a:rPr lang="en-US" altLang="ko-KR" sz="2000" dirty="0"/>
              <a:t>Modelling air carrier choices with a Segment Specific Cross Nested Logit model by Tomasz </a:t>
            </a:r>
            <a:r>
              <a:rPr lang="en-US" altLang="ko-KR" sz="2000" dirty="0" err="1"/>
              <a:t>Drabas</a:t>
            </a:r>
            <a:r>
              <a:rPr lang="en-US" altLang="ko-KR" sz="2000" dirty="0"/>
              <a:t> and Cheng-Lung Wu</a:t>
            </a:r>
          </a:p>
          <a:p>
            <a:r>
              <a:rPr lang="en-US" altLang="ko-KR" sz="2000" dirty="0"/>
              <a:t>Exploring the potential for cross-nesting structures in airport-choice analysis: A case-study of the Greater London area by Stephane Hess,  John W. </a:t>
            </a:r>
            <a:r>
              <a:rPr lang="en-US" altLang="ko-KR" sz="2000" dirty="0" err="1"/>
              <a:t>Polak</a:t>
            </a:r>
            <a:endParaRPr lang="en-US" altLang="ko-KR" sz="2000" dirty="0"/>
          </a:p>
          <a:p>
            <a:r>
              <a:rPr lang="en-US" altLang="ko-KR" sz="2000" dirty="0"/>
              <a:t>Passengers’ airport choice within multi-airport regions (MARs): some insights from a stated preference survey at Hong Kong International Airport by Becky P.Y. Loo</a:t>
            </a:r>
          </a:p>
          <a:p>
            <a:pPr lvl="1"/>
            <a:endParaRPr lang="en-US" altLang="ko-KR" sz="1900" dirty="0"/>
          </a:p>
          <a:p>
            <a:endParaRPr lang="en-US" altLang="ko-KR" sz="2200" dirty="0"/>
          </a:p>
          <a:p>
            <a:endParaRPr lang="en-US" altLang="ko-KR" sz="2200" dirty="0"/>
          </a:p>
          <a:p>
            <a:endParaRPr lang="en-US" altLang="ko-KR" sz="22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80215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1470079509</TotalTime>
  <Pages>14</Pages>
  <Words>682</Words>
  <Application>Microsoft Macintosh PowerPoint</Application>
  <PresentationFormat>On-screen Show (4:3)</PresentationFormat>
  <Paragraphs>102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Book Antiqua</vt:lpstr>
      <vt:lpstr>MS Reference Serif</vt:lpstr>
      <vt:lpstr>Office 테마</vt:lpstr>
      <vt:lpstr>PowerPoint Presentation</vt:lpstr>
      <vt:lpstr>Airport &amp; Airline Choice</vt:lpstr>
      <vt:lpstr>Airport &amp; Airline Choice</vt:lpstr>
      <vt:lpstr>Data</vt:lpstr>
      <vt:lpstr>Data</vt:lpstr>
      <vt:lpstr>Data</vt:lpstr>
      <vt:lpstr>Objective</vt:lpstr>
      <vt:lpstr>Modeling</vt:lpstr>
      <vt:lpstr>If you are interested in..</vt:lpstr>
      <vt:lpstr>Instruction</vt:lpstr>
      <vt:lpstr>Non Disclosure Agreement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AND STATISTICS</dc:title>
  <dc:creator>admin</dc:creator>
  <cp:lastModifiedBy>Nikhil Ghugare</cp:lastModifiedBy>
  <cp:revision>635</cp:revision>
  <cp:lastPrinted>2016-09-20T18:25:14Z</cp:lastPrinted>
  <dcterms:created xsi:type="dcterms:W3CDTF">1996-08-23T09:31:38Z</dcterms:created>
  <dcterms:modified xsi:type="dcterms:W3CDTF">2026-03-05T06:22:36Z</dcterms:modified>
</cp:coreProperties>
</file>